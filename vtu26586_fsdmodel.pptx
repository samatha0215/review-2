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9" r:id="rId12"/>
    <p:sldId id="267" r:id="rId13"/>
    <p:sldId id="268" r:id="rId14"/>
    <p:sldId id="270" r:id="rId15"/>
    <p:sldId id="265" r:id="rId16"/>
  </p:sldIdLst>
  <p:sldSz cx="18288000" cy="10287000"/>
  <p:notesSz cx="6858000" cy="9144000"/>
  <p:embeddedFontLst>
    <p:embeddedFont>
      <p:font typeface="Bookman Old Style" panose="02050604050505020204" pitchFamily="18" charset="0"/>
      <p:regular r:id="rId17"/>
      <p:bold r:id="rId18"/>
      <p:italic r:id="rId19"/>
      <p:boldItalic r:id="rId20"/>
    </p:embeddedFont>
    <p:embeddedFont>
      <p:font typeface="Cambria" panose="02040503050406030204" pitchFamily="18" charset="0"/>
      <p:regular r:id="rId21"/>
      <p:bold r:id="rId22"/>
      <p:italic r:id="rId23"/>
      <p:boldItalic r:id="rId24"/>
    </p:embeddedFont>
    <p:embeddedFont>
      <p:font typeface="Gotham" panose="020B0604020202020204" charset="0"/>
      <p:regular r:id="rId25"/>
    </p:embeddedFont>
    <p:embeddedFont>
      <p:font typeface="Gotham Bold Italics"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0" d="100"/>
          <a:sy n="40" d="100"/>
        </p:scale>
        <p:origin x="72" y="22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2</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20-04-2026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533400" y="5754629"/>
            <a:ext cx="15784162" cy="830997"/>
          </a:xfrm>
          <a:prstGeom prst="rect">
            <a:avLst/>
          </a:prstGeom>
          <a:noFill/>
        </p:spPr>
        <p:txBody>
          <a:bodyPr wrap="square" rtlCol="0">
            <a:spAutoFit/>
          </a:bodyPr>
          <a:lstStyle/>
          <a:p>
            <a:pPr algn="ctr"/>
            <a:r>
              <a:rPr lang="en-US" sz="4800" b="1" dirty="0">
                <a:solidFill>
                  <a:srgbClr val="0033CC"/>
                </a:solidFill>
              </a:rPr>
              <a:t>Smart Event Ticket Booking System using React JS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46508" y="7818585"/>
            <a:ext cx="9067800" cy="2084160"/>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a:latin typeface="Cambria" panose="02040503050406030204" pitchFamily="18" charset="0"/>
                <a:ea typeface="Cambria" panose="02040503050406030204" pitchFamily="18" charset="0"/>
              </a:rPr>
              <a:t>BHUMIREDDY SAMATHA REDDY</a:t>
            </a:r>
          </a:p>
          <a:p>
            <a:pPr>
              <a:lnSpc>
                <a:spcPct val="150000"/>
              </a:lnSpc>
            </a:pPr>
            <a:r>
              <a:rPr lang="en-US" sz="3000" dirty="0">
                <a:latin typeface="Cambria" panose="02040503050406030204" pitchFamily="18" charset="0"/>
                <a:ea typeface="Cambria" panose="02040503050406030204" pitchFamily="18" charset="0"/>
              </a:rPr>
              <a:t> – VTU26586 – 23UECS1025</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386189" y="8164833"/>
            <a:ext cx="6914603" cy="1432187"/>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IN" sz="3200" dirty="0">
                <a:latin typeface="Cambria" panose="02040503050406030204" pitchFamily="18" charset="0"/>
                <a:ea typeface="Cambria" panose="02040503050406030204" pitchFamily="18" charset="0"/>
              </a:rPr>
              <a:t>Dr . HAFIZUR RAHMAN</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075666" y="6971273"/>
            <a:ext cx="14743170" cy="646331"/>
          </a:xfrm>
          <a:prstGeom prst="rect">
            <a:avLst/>
          </a:prstGeom>
          <a:noFill/>
        </p:spPr>
        <p:txBody>
          <a:bodyPr wrap="square" rtlCol="0">
            <a:spAutoFit/>
          </a:bodyPr>
          <a:lstStyle/>
          <a:p>
            <a:r>
              <a:rPr lang="en-US" sz="3600" b="1" dirty="0">
                <a:latin typeface="Cambria" panose="02040503050406030204" pitchFamily="18" charset="0"/>
                <a:ea typeface="Cambria" panose="02040503050406030204" pitchFamily="18" charset="0"/>
              </a:rPr>
              <a:t>SDG</a:t>
            </a:r>
            <a:r>
              <a:rPr lang="en-US" sz="3600" b="1" dirty="0"/>
              <a:t> 9: Industry, Innovation, and Infrastructure</a:t>
            </a:r>
            <a:endParaRPr lang="en-IN" sz="36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2057400" y="2538303"/>
            <a:ext cx="15082325" cy="11049179"/>
          </a:xfrm>
          <a:prstGeom prst="rect">
            <a:avLst/>
          </a:prstGeom>
          <a:noFill/>
        </p:spPr>
        <p:txBody>
          <a:bodyPr wrap="square" rtlCol="0">
            <a:spAutoFit/>
          </a:bodyPr>
          <a:lstStyle/>
          <a:p>
            <a:r>
              <a:rPr lang="en-US" sz="3200" dirty="0">
                <a:latin typeface="Times New Roman" panose="02020603050405020304" pitchFamily="18" charset="0"/>
                <a:cs typeface="Times New Roman" panose="02020603050405020304" pitchFamily="18" charset="0"/>
              </a:rPr>
              <a:t>Event management in educational institutions often relies on manual processes or basic tools, which can lead to inefficiencies and errors in ticket booking. Students and faculty may face difficulties in accessing event details and registering on time. With the increasing number of departmental events, there is a growing need for a streamlined and automated solution. This project is important as it simplifies the booking process and improves user experience. It also helps organizers manage event data efficiently and avoid issues like overbooking. In real-world scenarios, such systems are widely used for concerts, seminars, and conferences. The proposed system is a React JS-based web application that allows users to view event details and book tickets online. It ensures accuracy, transparency, and ease of use for both users and administrators.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0" y="375247"/>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213846" y="2451700"/>
            <a:ext cx="15082325" cy="10618291"/>
          </a:xfrm>
          <a:prstGeom prst="rect">
            <a:avLst/>
          </a:prstGeom>
          <a:noFill/>
        </p:spPr>
        <p:txBody>
          <a:bodyPr wrap="square" rtlCol="0">
            <a:spAutoFit/>
          </a:bodyPr>
          <a:lstStyle/>
          <a:p>
            <a:r>
              <a:rPr lang="en-US" sz="3200" dirty="0">
                <a:latin typeface="Times New Roman" panose="02020603050405020304" pitchFamily="18" charset="0"/>
                <a:cs typeface="Times New Roman" panose="02020603050405020304" pitchFamily="18" charset="0"/>
              </a:rPr>
              <a:t>In many educational institutions, event ticket booking is handled manually or through unstructured systems, leading to inefficiencies and errors. Students and faculty often face difficulties in accessing event details and booking tickets on time. Manual tracking of ticket availability can result in overbooking or data inconsistency. There is also a lack of a centralized platform to manage event information and user registrations. This creates confusion, delays, and poor user experience. Therefore, there is a need for a simple, efficient, and automated web-based system. The system should allow users to view event details and book tickets easily. It should also ensure accuracy, transparency, and better management of event data.</a:t>
            </a:r>
          </a:p>
          <a:p>
            <a:pPr marL="457200" indent="-457200">
              <a:buFontTx/>
              <a:buChar char="-"/>
            </a:pPr>
            <a:endParaRPr lang="en-US" sz="32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660056"/>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5" name="TextBox 4">
            <a:extLst>
              <a:ext uri="{FF2B5EF4-FFF2-40B4-BE49-F238E27FC236}">
                <a16:creationId xmlns:a16="http://schemas.microsoft.com/office/drawing/2014/main" id="{D030464C-6A64-4756-DA65-8826C7021CBD}"/>
              </a:ext>
            </a:extLst>
          </p:cNvPr>
          <p:cNvSpPr txBox="1"/>
          <p:nvPr/>
        </p:nvSpPr>
        <p:spPr>
          <a:xfrm>
            <a:off x="1701819" y="1863764"/>
            <a:ext cx="14816737" cy="6986528"/>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design and develop a React JS-based web application for efficient event ticket booking and management:</a:t>
            </a:r>
            <a:b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objective is to create a responsive and interactive web platform where users can easily view event details such as name, date, venue, and ticket availability. The system should allow seamless ticket booking, store user information securely, and provide real-time updates on ticket availability. It should also support organizers in managing event data effectively through a centralized interface.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implement a user-friendly system that improves booking accuracy, reduces manual errors, and enhances user experience:</a:t>
            </a:r>
            <a:b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objective focuses on building an intuitive interface that simplifies the booking process for students and faculty. The system should minimize errors like duplicate bookings or incorrect data entry by validating user inputs. It should also provide instant confirmation and clear navigation, ensuring a smooth and efficient experience while improving overall system reliability and performance</a:t>
            </a:r>
            <a:r>
              <a:rPr kumimoji="0" lang="en-US" altLang="en-US" sz="2400" b="0" i="0" u="none" strike="noStrike" cap="none" normalizeH="0" baseline="0" dirty="0">
                <a:ln>
                  <a:noFill/>
                </a:ln>
                <a:solidFill>
                  <a:schemeClr val="tx1"/>
                </a:solidFill>
                <a:effectLst/>
                <a:latin typeface="Arial" panose="020B0604020202020204" pitchFamily="34" charset="0"/>
              </a:rPr>
              <a:t>.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6" name="TextBox 45">
            <a:extLst>
              <a:ext uri="{FF2B5EF4-FFF2-40B4-BE49-F238E27FC236}">
                <a16:creationId xmlns:a16="http://schemas.microsoft.com/office/drawing/2014/main" id="{E7218D14-8F44-8040-8BFD-49A59591F527}"/>
              </a:ext>
            </a:extLst>
          </p:cNvPr>
          <p:cNvSpPr txBox="1"/>
          <p:nvPr/>
        </p:nvSpPr>
        <p:spPr>
          <a:xfrm>
            <a:off x="-647700" y="37331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3A6B37BB-A8A6-D6A8-B7DE-932A9595573D}"/>
              </a:ext>
            </a:extLst>
          </p:cNvPr>
          <p:cNvSpPr>
            <a:spLocks noChangeArrowheads="1"/>
          </p:cNvSpPr>
          <p:nvPr/>
        </p:nvSpPr>
        <p:spPr bwMode="auto">
          <a:xfrm>
            <a:off x="1724879" y="1511736"/>
            <a:ext cx="15087600" cy="72635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proposed system is a React JS-based web application designed to automate event ticket booking for internal department events.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provides a centralized platform where users can view event details such as name, date, venue, and ticket availability.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Users can easily book tickets online by entering their details, reducing the need for manual registration.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maintains real-time updates of ticket availability, preventing overbooking issues.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Input validation and structured data storage help reduce errors and improve data accuracy.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offers a user-friendly interface that ensures smooth navigation and quick booking.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Organizers can efficiently manage event information and monitor bookings through the system.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Compared to manual or basic systems, it improves efficiency, transparency, speed, and overall user experience.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8CD05F7C-A6A6-3E9C-CC56-5D7BC8E66C62}"/>
              </a:ext>
            </a:extLst>
          </p:cNvPr>
          <p:cNvPicPr>
            <a:picLocks noChangeAspect="1"/>
          </p:cNvPicPr>
          <p:nvPr/>
        </p:nvPicPr>
        <p:blipFill>
          <a:blip r:embed="rId3"/>
          <a:stretch>
            <a:fillRect/>
          </a:stretch>
        </p:blipFill>
        <p:spPr>
          <a:xfrm>
            <a:off x="3276600" y="1562100"/>
            <a:ext cx="13258800" cy="75438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5B444EA7-FB52-330F-C7D2-B7763A46FFAA}"/>
              </a:ext>
            </a:extLst>
          </p:cNvPr>
          <p:cNvPicPr>
            <a:picLocks noChangeAspect="1"/>
          </p:cNvPicPr>
          <p:nvPr/>
        </p:nvPicPr>
        <p:blipFill>
          <a:blip r:embed="rId3"/>
          <a:stretch>
            <a:fillRect/>
          </a:stretch>
        </p:blipFill>
        <p:spPr>
          <a:xfrm>
            <a:off x="2667000" y="1714500"/>
            <a:ext cx="12191999" cy="685799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1735990" y="1764814"/>
            <a:ext cx="15082325" cy="11664732"/>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Frontend:</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React JS (for building dynamic and responsive user interface) </a:t>
            </a:r>
          </a:p>
          <a:p>
            <a:r>
              <a:rPr lang="en-US" sz="2400" dirty="0">
                <a:latin typeface="Times New Roman" panose="02020603050405020304" pitchFamily="18" charset="0"/>
                <a:cs typeface="Times New Roman" panose="02020603050405020304" pitchFamily="18" charset="0"/>
              </a:rPr>
              <a:t>HTML5, CSS3 (for structure and styling) </a:t>
            </a:r>
          </a:p>
          <a:p>
            <a:r>
              <a:rPr lang="en-US" sz="2400" dirty="0">
                <a:latin typeface="Times New Roman" panose="02020603050405020304" pitchFamily="18" charset="0"/>
                <a:cs typeface="Times New Roman" panose="02020603050405020304" pitchFamily="18" charset="0"/>
              </a:rPr>
              <a:t>JavaScript (for interactivity and logic) </a:t>
            </a:r>
          </a:p>
          <a:p>
            <a:r>
              <a:rPr lang="en-US" sz="2400" b="1" dirty="0">
                <a:latin typeface="Times New Roman" panose="02020603050405020304" pitchFamily="18" charset="0"/>
                <a:cs typeface="Times New Roman" panose="02020603050405020304" pitchFamily="18" charset="0"/>
              </a:rPr>
              <a:t>Backend:</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Node.js (server-side runtime environment) </a:t>
            </a:r>
          </a:p>
          <a:p>
            <a:r>
              <a:rPr lang="en-US" sz="2400" dirty="0">
                <a:latin typeface="Times New Roman" panose="02020603050405020304" pitchFamily="18" charset="0"/>
                <a:cs typeface="Times New Roman" panose="02020603050405020304" pitchFamily="18" charset="0"/>
              </a:rPr>
              <a:t>Express.js (for handling API requests and routing) </a:t>
            </a:r>
          </a:p>
          <a:p>
            <a:r>
              <a:rPr lang="en-US" sz="2400" b="1" dirty="0">
                <a:latin typeface="Times New Roman" panose="02020603050405020304" pitchFamily="18" charset="0"/>
                <a:cs typeface="Times New Roman" panose="02020603050405020304" pitchFamily="18" charset="0"/>
              </a:rPr>
              <a:t>Database:</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MySQL / MongoDB (for storing user data, event details, and booking information) </a:t>
            </a:r>
          </a:p>
          <a:p>
            <a:r>
              <a:rPr lang="en-US" sz="2400" b="1" dirty="0">
                <a:latin typeface="Times New Roman" panose="02020603050405020304" pitchFamily="18" charset="0"/>
                <a:cs typeface="Times New Roman" panose="02020603050405020304" pitchFamily="18" charset="0"/>
              </a:rPr>
              <a:t>Tools:</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VS Code (code editor) </a:t>
            </a:r>
          </a:p>
          <a:p>
            <a:r>
              <a:rPr lang="en-US" sz="2400" dirty="0">
                <a:latin typeface="Times New Roman" panose="02020603050405020304" pitchFamily="18" charset="0"/>
                <a:cs typeface="Times New Roman" panose="02020603050405020304" pitchFamily="18" charset="0"/>
              </a:rPr>
              <a:t>Git &amp; GitHub (version control) </a:t>
            </a:r>
          </a:p>
          <a:p>
            <a:r>
              <a:rPr lang="en-US" sz="2400" dirty="0">
                <a:latin typeface="Times New Roman" panose="02020603050405020304" pitchFamily="18" charset="0"/>
                <a:cs typeface="Times New Roman" panose="02020603050405020304" pitchFamily="18" charset="0"/>
              </a:rPr>
              <a:t>Postman (API testing) </a:t>
            </a:r>
          </a:p>
          <a:p>
            <a:r>
              <a:rPr lang="en-US" sz="2400" dirty="0">
                <a:latin typeface="Times New Roman" panose="02020603050405020304" pitchFamily="18" charset="0"/>
                <a:cs typeface="Times New Roman" panose="02020603050405020304" pitchFamily="18" charset="0"/>
              </a:rPr>
              <a:t>XAMPP (for local server and database management, if using MySQL) </a:t>
            </a:r>
          </a:p>
          <a:p>
            <a:r>
              <a:rPr lang="en-US" sz="2400" b="1" dirty="0">
                <a:latin typeface="Times New Roman" panose="02020603050405020304" pitchFamily="18" charset="0"/>
                <a:cs typeface="Times New Roman" panose="02020603050405020304" pitchFamily="18" charset="0"/>
              </a:rPr>
              <a:t>Hardware/Software Requirements:</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System with minimum 4GB RAM and internet connectivity </a:t>
            </a:r>
          </a:p>
          <a:p>
            <a:r>
              <a:rPr lang="en-US" sz="2400" dirty="0">
                <a:latin typeface="Times New Roman" panose="02020603050405020304" pitchFamily="18" charset="0"/>
                <a:cs typeface="Times New Roman" panose="02020603050405020304" pitchFamily="18" charset="0"/>
              </a:rPr>
              <a:t>Operating System: Windows / Linux / macOS </a:t>
            </a:r>
          </a:p>
          <a:p>
            <a:r>
              <a:rPr lang="en-US" sz="2400" dirty="0">
                <a:latin typeface="Times New Roman" panose="02020603050405020304" pitchFamily="18" charset="0"/>
                <a:cs typeface="Times New Roman" panose="02020603050405020304" pitchFamily="18" charset="0"/>
              </a:rPr>
              <a:t>Web Browser: Chrome / Edge / Firefox </a:t>
            </a:r>
          </a:p>
          <a:p>
            <a:r>
              <a:rPr lang="en-US" sz="2400" dirty="0">
                <a:latin typeface="Times New Roman" panose="02020603050405020304" pitchFamily="18" charset="0"/>
                <a:cs typeface="Times New Roman" panose="02020603050405020304" pitchFamily="18" charset="0"/>
              </a:rPr>
              <a:t>Node.js and </a:t>
            </a:r>
            <a:r>
              <a:rPr lang="en-US" sz="2400" dirty="0" err="1">
                <a:latin typeface="Times New Roman" panose="02020603050405020304" pitchFamily="18" charset="0"/>
                <a:cs typeface="Times New Roman" panose="02020603050405020304" pitchFamily="18" charset="0"/>
              </a:rPr>
              <a:t>npm</a:t>
            </a:r>
            <a:r>
              <a:rPr lang="en-US" sz="2400" dirty="0">
                <a:latin typeface="Times New Roman" panose="02020603050405020304" pitchFamily="18" charset="0"/>
                <a:cs typeface="Times New Roman" panose="02020603050405020304" pitchFamily="18" charset="0"/>
              </a:rPr>
              <a:t> installed for running the application</a:t>
            </a:r>
          </a:p>
          <a:p>
            <a:pPr marL="457200" indent="-457200">
              <a:buFontTx/>
              <a:buChar char="-"/>
            </a:pPr>
            <a:endParaRPr lang="en-US" sz="2400" dirty="0"/>
          </a:p>
          <a:p>
            <a:pPr marL="457200" indent="-457200">
              <a:buFontTx/>
              <a:buChar char="-"/>
            </a:pPr>
            <a:endParaRPr lang="en-US" sz="2400" dirty="0"/>
          </a:p>
          <a:p>
            <a:pPr marL="457200" indent="-457200">
              <a:buFontTx/>
              <a:buChar char="-"/>
            </a:pPr>
            <a:endParaRPr lang="en-US" sz="2400" dirty="0"/>
          </a:p>
          <a:p>
            <a:pPr marL="457200" indent="-457200">
              <a:buFontTx/>
              <a:buChar char="-"/>
            </a:pPr>
            <a:endParaRPr lang="en-US" sz="2400" dirty="0"/>
          </a:p>
          <a:p>
            <a:pPr marL="457200" indent="-457200">
              <a:buFontTx/>
              <a:buChar char="-"/>
            </a:pPr>
            <a:endParaRPr lang="en-US" sz="2400" dirty="0"/>
          </a:p>
          <a:p>
            <a:pPr marL="457200" indent="-457200">
              <a:buFontTx/>
              <a:buChar char="-"/>
            </a:pPr>
            <a:endParaRPr lang="en-US" sz="2400" dirty="0"/>
          </a:p>
          <a:p>
            <a:pPr marL="457200" indent="-457200">
              <a:buFontTx/>
              <a:buChar char="-"/>
            </a:pPr>
            <a:endParaRPr lang="en-US" sz="2400" dirty="0"/>
          </a:p>
          <a:p>
            <a:pPr marL="457200" indent="-457200">
              <a:buFontTx/>
              <a:buChar char="-"/>
            </a:pPr>
            <a:endParaRPr lang="en-US" sz="2400" dirty="0"/>
          </a:p>
          <a:p>
            <a:pPr marL="457200" indent="-457200">
              <a:buFontTx/>
              <a:buChar char="-"/>
            </a:pPr>
            <a:endParaRPr lang="en-US" sz="2400" dirty="0"/>
          </a:p>
          <a:p>
            <a:pPr marL="457200" indent="-457200">
              <a:buFontTx/>
              <a:buChar char="-"/>
            </a:pPr>
            <a:endParaRPr lang="en-US" sz="24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31230" y="32764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209800" y="1638300"/>
            <a:ext cx="15082325" cy="10433625"/>
          </a:xfrm>
          <a:prstGeom prst="rect">
            <a:avLst/>
          </a:prstGeom>
          <a:noFill/>
        </p:spPr>
        <p:txBody>
          <a:bodyPr wrap="square" rtlCol="0">
            <a:spAutoFit/>
          </a:bodyPr>
          <a:lstStyle/>
          <a:p>
            <a:endParaRPr lang="en-IN" sz="2800" b="1" dirty="0"/>
          </a:p>
          <a:p>
            <a:r>
              <a:rPr lang="en-US" sz="2800" b="1" dirty="0">
                <a:latin typeface="Times New Roman" panose="02020603050405020304" pitchFamily="18" charset="0"/>
                <a:cs typeface="Times New Roman" panose="02020603050405020304" pitchFamily="18" charset="0"/>
              </a:rPr>
              <a:t>Module 1: User Management</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Handles user registration and login for students and faculty. It collects basic details like name, email, and department during booking. Ensures secure authentication and manages user sessions. Provides a simple interface for users to access the system easily.</a:t>
            </a:r>
          </a:p>
          <a:p>
            <a:r>
              <a:rPr lang="en-US" sz="2800" b="1" dirty="0">
                <a:latin typeface="Times New Roman" panose="02020603050405020304" pitchFamily="18" charset="0"/>
                <a:cs typeface="Times New Roman" panose="02020603050405020304" pitchFamily="18" charset="0"/>
              </a:rPr>
              <a:t>Module 2: Event Management &amp; Booking</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Displays event details such as event name, date, venue, ticket price, and availability. Allows users to select events and book tickets by filling out a booking form. Handles ticket availability and prevents overbooking. Ensures smooth and quick booking process.</a:t>
            </a:r>
          </a:p>
          <a:p>
            <a:r>
              <a:rPr lang="en-US" sz="2800" b="1" dirty="0">
                <a:latin typeface="Times New Roman" panose="02020603050405020304" pitchFamily="18" charset="0"/>
                <a:cs typeface="Times New Roman" panose="02020603050405020304" pitchFamily="18" charset="0"/>
              </a:rPr>
              <a:t>Module 3: Database Management</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Stores all event details, user information, and booking records in the database. Handles data insertion, retrieval, and updates efficiently. Maintains data accuracy and consistency. Supports real-time updates for ticket availability.</a:t>
            </a:r>
          </a:p>
          <a:p>
            <a:r>
              <a:rPr lang="en-US" sz="2800" b="1" dirty="0">
                <a:latin typeface="Times New Roman" panose="02020603050405020304" pitchFamily="18" charset="0"/>
                <a:cs typeface="Times New Roman" panose="02020603050405020304" pitchFamily="18" charset="0"/>
              </a:rPr>
              <a:t>Module 4: Reporting &amp; Confirmation</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Generates booking confirmation for users in the form of e-tickets. Provides organizers with reports on total bookings and event participation. Helps in analyzing event success and managing future events. Ensures transparency and proper record-keeping.</a:t>
            </a:r>
          </a:p>
          <a:p>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8CFDB42A-56DE-87EF-749C-2B25B173EBA5}"/>
              </a:ext>
            </a:extLst>
          </p:cNvPr>
          <p:cNvPicPr>
            <a:picLocks noChangeAspect="1"/>
          </p:cNvPicPr>
          <p:nvPr/>
        </p:nvPicPr>
        <p:blipFill>
          <a:blip r:embed="rId3"/>
          <a:stretch>
            <a:fillRect/>
          </a:stretch>
        </p:blipFill>
        <p:spPr>
          <a:xfrm>
            <a:off x="3015368" y="1485900"/>
            <a:ext cx="12986632" cy="7543799"/>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58F13D39-9C2F-5481-FA23-0BBE23780C6A}"/>
              </a:ext>
            </a:extLst>
          </p:cNvPr>
          <p:cNvPicPr>
            <a:picLocks noChangeAspect="1"/>
          </p:cNvPicPr>
          <p:nvPr/>
        </p:nvPicPr>
        <p:blipFill>
          <a:blip r:embed="rId3"/>
          <a:stretch>
            <a:fillRect/>
          </a:stretch>
        </p:blipFill>
        <p:spPr>
          <a:xfrm>
            <a:off x="2126248" y="1889336"/>
            <a:ext cx="14189670" cy="6858594"/>
          </a:xfrm>
          <a:prstGeom prst="rect">
            <a:avLst/>
          </a:prstGeom>
        </p:spPr>
      </p:pic>
    </p:spTree>
    <p:extLst>
      <p:ext uri="{BB962C8B-B14F-4D97-AF65-F5344CB8AC3E}">
        <p14:creationId xmlns:p14="http://schemas.microsoft.com/office/powerpoint/2010/main" val="3981187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6C0EA81E-D408-1A06-6895-1BF3CA09E497}"/>
              </a:ext>
            </a:extLst>
          </p:cNvPr>
          <p:cNvSpPr txBox="1"/>
          <p:nvPr/>
        </p:nvSpPr>
        <p:spPr>
          <a:xfrm>
            <a:off x="2209800" y="1638300"/>
            <a:ext cx="15082325"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7783B6AE-39BF-0FBB-9A51-27EABC650DF7}"/>
              </a:ext>
            </a:extLst>
          </p:cNvPr>
          <p:cNvPicPr>
            <a:picLocks noChangeAspect="1"/>
          </p:cNvPicPr>
          <p:nvPr/>
        </p:nvPicPr>
        <p:blipFill>
          <a:blip r:embed="rId3"/>
          <a:stretch>
            <a:fillRect/>
          </a:stretch>
        </p:blipFill>
        <p:spPr>
          <a:xfrm>
            <a:off x="2358908" y="2015465"/>
            <a:ext cx="14113463" cy="6843353"/>
          </a:xfrm>
          <a:prstGeom prst="rect">
            <a:avLst/>
          </a:prstGeom>
        </p:spPr>
      </p:pic>
    </p:spTree>
    <p:extLst>
      <p:ext uri="{BB962C8B-B14F-4D97-AF65-F5344CB8AC3E}">
        <p14:creationId xmlns:p14="http://schemas.microsoft.com/office/powerpoint/2010/main" val="47544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341A1FDE-E3AB-682A-64B7-DA145F23EB91}"/>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B550AC99-AC40-D0E1-C5E7-8A20B4CCFD16}"/>
              </a:ext>
            </a:extLst>
          </p:cNvPr>
          <p:cNvPicPr>
            <a:picLocks noChangeAspect="1"/>
          </p:cNvPicPr>
          <p:nvPr/>
        </p:nvPicPr>
        <p:blipFill>
          <a:blip r:embed="rId3"/>
          <a:stretch>
            <a:fillRect/>
          </a:stretch>
        </p:blipFill>
        <p:spPr>
          <a:xfrm>
            <a:off x="2209800" y="1715126"/>
            <a:ext cx="14113463" cy="6820491"/>
          </a:xfrm>
          <a:prstGeom prst="rect">
            <a:avLst/>
          </a:prstGeom>
        </p:spPr>
      </p:pic>
    </p:spTree>
    <p:extLst>
      <p:ext uri="{BB962C8B-B14F-4D97-AF65-F5344CB8AC3E}">
        <p14:creationId xmlns:p14="http://schemas.microsoft.com/office/powerpoint/2010/main" val="84889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IN"/>
            </a:p>
          </p:txBody>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B8C5A253-A95B-000F-1ED3-2A0416F31965}"/>
              </a:ext>
            </a:extLst>
          </p:cNvPr>
          <p:cNvSpPr txBox="1"/>
          <p:nvPr/>
        </p:nvSpPr>
        <p:spPr>
          <a:xfrm>
            <a:off x="2121109" y="2254251"/>
            <a:ext cx="14045782" cy="6555641"/>
          </a:xfrm>
          <a:prstGeom prst="rect">
            <a:avLst/>
          </a:prstGeom>
          <a:noFill/>
        </p:spPr>
        <p:txBody>
          <a:bodyPr wrap="square">
            <a:spAutoFit/>
          </a:bodyPr>
          <a:lstStyle/>
          <a:p>
            <a:pPr>
              <a:buNone/>
            </a:pPr>
            <a:r>
              <a:rPr lang="en-US" sz="2800" b="1" dirty="0">
                <a:latin typeface="Times New Roman" panose="02020603050405020304" pitchFamily="18" charset="0"/>
                <a:cs typeface="Times New Roman" panose="02020603050405020304" pitchFamily="18" charset="0"/>
              </a:rPr>
              <a:t>Advantages</a:t>
            </a:r>
          </a:p>
          <a:p>
            <a:pPr>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Provides a fast and automated ticket booking system, reducing manual work. </a:t>
            </a:r>
          </a:p>
          <a:p>
            <a:pPr>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User-friendly interface makes it easy for students and faculty to use. </a:t>
            </a:r>
          </a:p>
          <a:p>
            <a:pPr>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Real-time ticket availability prevents overbooking issues. </a:t>
            </a:r>
          </a:p>
          <a:p>
            <a:pPr>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Improves data accuracy and reduces human errors. </a:t>
            </a:r>
          </a:p>
          <a:p>
            <a:pPr>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Centralized system helps organizers manage events efficiently. </a:t>
            </a:r>
          </a:p>
          <a:p>
            <a:pPr>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Saves time and provides instant booking confirmation (e-ticket). </a:t>
            </a:r>
          </a:p>
          <a:p>
            <a:pPr>
              <a:buNone/>
            </a:pPr>
            <a:br>
              <a:rPr lang="en-US" sz="2800"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a:p>
            <a:pPr>
              <a:buNone/>
            </a:pPr>
            <a:r>
              <a:rPr lang="en-US" sz="2800" b="1" dirty="0">
                <a:latin typeface="Times New Roman" panose="02020603050405020304" pitchFamily="18" charset="0"/>
                <a:cs typeface="Times New Roman" panose="02020603050405020304" pitchFamily="18" charset="0"/>
              </a:rPr>
              <a:t>Limitations</a:t>
            </a:r>
          </a:p>
          <a:p>
            <a:pPr>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Requires internet connection to access the application. </a:t>
            </a:r>
          </a:p>
          <a:p>
            <a:pPr>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Initial setup and development may take time and technical effort. </a:t>
            </a:r>
          </a:p>
          <a:p>
            <a:pPr>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System may face performance issues with a large number of users if not optimized. </a:t>
            </a:r>
          </a:p>
          <a:p>
            <a:pPr>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Security risks if proper authentication and data protection are not implemented. </a:t>
            </a:r>
          </a:p>
          <a:p>
            <a:pPr>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Depends on server availability; downtime can affect booking process. </a:t>
            </a:r>
          </a:p>
        </p:txBody>
      </p:sp>
    </p:spTree>
    <p:extLst>
      <p:ext uri="{BB962C8B-B14F-4D97-AF65-F5344CB8AC3E}">
        <p14:creationId xmlns:p14="http://schemas.microsoft.com/office/powerpoint/2010/main" val="18389767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IN"/>
            </a:p>
          </p:txBody>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298</TotalTime>
  <Words>1251</Words>
  <Application>Microsoft Office PowerPoint</Application>
  <PresentationFormat>Custom</PresentationFormat>
  <Paragraphs>254</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Cambria</vt:lpstr>
      <vt:lpstr>Arial</vt:lpstr>
      <vt:lpstr>Gotham</vt:lpstr>
      <vt:lpstr>Bookman Old Style</vt:lpstr>
      <vt:lpstr>Gotham Bold Italics</vt:lpstr>
      <vt:lpstr>Times New Roman</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Aasha Mamilla</dc:creator>
  <cp:lastModifiedBy>THARUN RAGHAVAN</cp:lastModifiedBy>
  <cp:revision>12</cp:revision>
  <dcterms:created xsi:type="dcterms:W3CDTF">2006-08-16T00:00:00Z</dcterms:created>
  <dcterms:modified xsi:type="dcterms:W3CDTF">2026-04-20T15:45:35Z</dcterms:modified>
  <dc:identifier>DAHCaYqJ9OU</dc:identifier>
</cp:coreProperties>
</file>